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194560"/>
            <a:ext cx="11094415" cy="1371600"/>
          </a:xfrm>
        </p:spPr>
        <p:txBody>
          <a:bodyPr/>
          <a:lstStyle/>
          <a:p>
            <a:r>
              <a:t>【调研主题】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749039"/>
            <a:ext cx="11094415" cy="914400"/>
          </a:xfrm>
        </p:spPr>
        <p:txBody>
          <a:bodyPr/>
          <a:lstStyle/>
          <a:p>
            <a:r>
              <a:t>调研汇报 · 【日期】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914400"/>
          </a:xfrm>
        </p:spPr>
        <p:txBody>
          <a:bodyPr/>
          <a:lstStyle/>
          <a:p>
            <a:r>
              <a:rPr sz="3200" b="1">
                <a:solidFill>
                  <a:srgbClr val="1F4E79"/>
                </a:solidFill>
              </a:rPr>
              <a:t>调研问题与方法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94415" cy="4754880"/>
          </a:xfrm>
        </p:spPr>
        <p:txBody>
          <a:bodyPr/>
          <a:lstStyle/>
          <a:p>
            <a:r>
              <a:rPr sz="2000"/>
              <a:t>【要回答的问题】</a:t>
            </a:r>
          </a:p>
          <a:p>
            <a:r>
              <a:rPr sz="2000"/>
              <a:t>【资料来源与方法】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914400"/>
          </a:xfrm>
        </p:spPr>
        <p:txBody>
          <a:bodyPr/>
          <a:lstStyle/>
          <a:p>
            <a:r>
              <a:rPr sz="3200" b="1">
                <a:solidFill>
                  <a:srgbClr val="1F4E79"/>
                </a:solidFill>
              </a:rPr>
              <a:t>主要发现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94415" cy="4754880"/>
          </a:xfrm>
        </p:spPr>
        <p:txBody>
          <a:bodyPr/>
          <a:lstStyle/>
          <a:p>
            <a:r>
              <a:rPr sz="2000"/>
              <a:t>【发现一（来源）】</a:t>
            </a:r>
          </a:p>
          <a:p>
            <a:r>
              <a:rPr sz="2000"/>
              <a:t>【发现二（来源）】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914400"/>
          </a:xfrm>
        </p:spPr>
        <p:txBody>
          <a:bodyPr/>
          <a:lstStyle/>
          <a:p>
            <a:r>
              <a:rPr sz="3200" b="1">
                <a:solidFill>
                  <a:srgbClr val="1F4E79"/>
                </a:solidFill>
              </a:rPr>
              <a:t>对比与分析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94415" cy="4754880"/>
          </a:xfrm>
        </p:spPr>
        <p:txBody>
          <a:bodyPr/>
          <a:lstStyle/>
          <a:p>
            <a:r>
              <a:rPr sz="2000"/>
              <a:t>【对象 A 与 B 的差异】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914400"/>
          </a:xfrm>
        </p:spPr>
        <p:txBody>
          <a:bodyPr/>
          <a:lstStyle/>
          <a:p>
            <a:r>
              <a:rPr sz="3200" b="1">
                <a:solidFill>
                  <a:srgbClr val="1F4E79"/>
                </a:solidFill>
              </a:rPr>
              <a:t>结论与建议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94415" cy="4754880"/>
          </a:xfrm>
        </p:spPr>
        <p:txBody>
          <a:bodyPr/>
          <a:lstStyle/>
          <a:p>
            <a:r>
              <a:rPr sz="2000"/>
              <a:t>【结论】</a:t>
            </a:r>
          </a:p>
          <a:p>
            <a:r>
              <a:rPr sz="2000"/>
              <a:t>【建议】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415" cy="914400"/>
          </a:xfrm>
        </p:spPr>
        <p:txBody>
          <a:bodyPr/>
          <a:lstStyle/>
          <a:p>
            <a:r>
              <a:rPr sz="3200" b="1">
                <a:solidFill>
                  <a:srgbClr val="1F4E79"/>
                </a:solidFill>
              </a:rPr>
              <a:t>参考来源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94415" cy="4754880"/>
          </a:xfrm>
        </p:spPr>
        <p:txBody>
          <a:bodyPr/>
          <a:lstStyle/>
          <a:p>
            <a:r>
              <a:rPr sz="2000"/>
              <a:t>【文件名 / 页码 / 链接】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